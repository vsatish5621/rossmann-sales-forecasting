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Rossmann Sales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6459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Project 6 • Final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2F75B5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800" b="1">
                <a:solidFill>
                  <a:srgbClr val="009696"/>
                </a:solidFill>
              </a:rPr>
              <a:t>ROSSMANN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88136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400" b="1">
                <a:solidFill>
                  <a:srgbClr val="1F4E79"/>
                </a:solidFill>
              </a:rPr>
              <a:t>SALES FORECASTING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996696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700" b="0">
                <a:solidFill>
                  <a:srgbClr val="2D2D2D"/>
                </a:solidFill>
              </a:rPr>
              <a:t>Retail Sales • Customer Demand • Deep Learning • MLOps • BI •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03320"/>
            <a:ext cx="85039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2F75B5"/>
                </a:solidFill>
              </a:rPr>
              <a:t>Official submission: 15 September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251960"/>
            <a:ext cx="8503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2D2D2D"/>
                </a:solidFill>
              </a:rPr>
              <a:t>GitHub: vsatish5621/Rossmann-Sales-Forecasting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5074920"/>
            <a:ext cx="10744200" cy="1051560"/>
          </a:xfrm>
          <a:prstGeom prst="roundRect">
            <a:avLst/>
          </a:prstGeom>
          <a:solidFill>
            <a:srgbClr val="EFF4F9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212080"/>
            <a:ext cx="12344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2A5B96"/>
                </a:solidFill>
                <a:latin typeface="Aptos"/>
              </a:rPr>
              <a:t>Submitted By: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504688"/>
            <a:ext cx="2926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83056"/>
                </a:solidFill>
                <a:latin typeface="Aptos"/>
              </a:rPr>
              <a:t>Name: Satish Vonteddu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5330952"/>
            <a:ext cx="2514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50" b="1">
                <a:solidFill>
                  <a:srgbClr val="232B37"/>
                </a:solidFill>
                <a:latin typeface="Aptos"/>
              </a:rPr>
              <a:t>Data Analytics Internship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5650992"/>
            <a:ext cx="25146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5B697A"/>
                </a:solidFill>
                <a:latin typeface="Aptos"/>
              </a:rPr>
              <a:t>NextHikes IT Solutions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5330952"/>
            <a:ext cx="3246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183056"/>
                </a:solidFill>
                <a:latin typeface="Aptos"/>
              </a:rPr>
              <a:t>L-110226-W2PM-B15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5669280"/>
            <a:ext cx="32461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50" b="0">
                <a:solidFill>
                  <a:srgbClr val="5B697A"/>
                </a:solidFill>
                <a:latin typeface="Aptos"/>
              </a:rPr>
              <a:t>Submission Date: 15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6459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End-to-end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2F75B5"/>
                </a:solidFill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2377440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21031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2F75B5"/>
                </a:solidFill>
              </a:rPr>
              <a:t>Training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27632"/>
            <a:ext cx="21031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1,017,209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34440"/>
            <a:ext cx="2377440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371600"/>
            <a:ext cx="21031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2F75B5"/>
                </a:solidFill>
              </a:rPr>
              <a:t>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627632"/>
            <a:ext cx="21031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1,115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234440"/>
            <a:ext cx="2377440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1031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2F75B5"/>
                </a:solidFill>
              </a:rPr>
              <a:t>Final test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27632"/>
            <a:ext cx="21031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41,088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1234440"/>
            <a:ext cx="2377440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1371600"/>
            <a:ext cx="21031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2F75B5"/>
                </a:solidFill>
              </a:rPr>
              <a:t>Sales RF R²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1627632"/>
            <a:ext cx="21031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0.8859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74320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• Forecast daily store Sales up to six weeks ahead.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• Model both Sales and Customers for business usability.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• Combine Random Forest with an LSTM time-series model.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• Track models with MLflow and data with DVC.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• Deliver Power BI insights and a deployed Streamlit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Business Need &amp; Official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6459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Source: Project 6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2F75B5"/>
                </a:solidFill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Business need: replace judgement-only forecasting with a repeatable predictive product.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Required drivers: promotions, competition, school/state holidays, seasonality and locality.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Task 1: purchasing-behavior EDA and business insights.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Task 2: preprocessing, sklearn pipeline, tree model, uncertainty, serialization, LSTM and MLflow.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Task 3: manager-facing web interface, predictions, plot/CSV output and hosting.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6070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09696"/>
                </a:solidFill>
              </a:rPr>
              <a:t>Official brief explicitly permits Streamlit/Flask/etc. and hosting on Heroku or another suitable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Dataset &amp; Data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6459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1,017,209 training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2F75B5"/>
                </a:solidFill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840480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39"/>
            <a:ext cx="35661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2F75B5"/>
                </a:solidFill>
              </a:rPr>
              <a:t>train.csv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356616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1,017,209 ×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600200"/>
            <a:ext cx="59436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</a:rPr>
              <a:t>Historical 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3840480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06040"/>
            <a:ext cx="35661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2F75B5"/>
                </a:solidFill>
              </a:rPr>
              <a:t>store.csv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62072"/>
            <a:ext cx="356616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1,115 ×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743200"/>
            <a:ext cx="59436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</a:rPr>
              <a:t>Store master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11880"/>
            <a:ext cx="3840480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49040"/>
            <a:ext cx="35661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2F75B5"/>
                </a:solidFill>
              </a:rPr>
              <a:t>test.csv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005072"/>
            <a:ext cx="356616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41,088 ×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886200"/>
            <a:ext cx="59436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</a:rPr>
              <a:t>Future test records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54880"/>
            <a:ext cx="3840480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92040"/>
            <a:ext cx="35661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2F75B5"/>
                </a:solidFill>
              </a:rPr>
              <a:t>sample_submission.csv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48072"/>
            <a:ext cx="356616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41,088 ×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5029200"/>
            <a:ext cx="59436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2D2D2D"/>
                </a:solidFill>
              </a:rPr>
              <a:t>Submission format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6459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Data → ML/DL → MLOps → BI →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2F75B5"/>
                </a:solidFill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2423160" cy="96012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50008"/>
            <a:ext cx="22402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</a:rPr>
              <a:t>Load &amp; Clean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657600"/>
            <a:ext cx="2423160" cy="96012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904487"/>
            <a:ext cx="22402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</a:rPr>
              <a:t>EDA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103120"/>
            <a:ext cx="2423160" cy="96012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350008"/>
            <a:ext cx="22402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</a:rPr>
              <a:t>Feature 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3657600"/>
            <a:ext cx="2423160" cy="96012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904487"/>
            <a:ext cx="22402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</a:rPr>
              <a:t>RF + Customer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103120"/>
            <a:ext cx="2423160" cy="96012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2350008"/>
            <a:ext cx="22402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</a:rPr>
              <a:t>LSTM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657600"/>
            <a:ext cx="2423160" cy="96012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3904487"/>
            <a:ext cx="22402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</a:rPr>
              <a:t>MLflow + DVC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2103120"/>
            <a:ext cx="2423160" cy="96012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350008"/>
            <a:ext cx="22402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</a:rPr>
              <a:t>Power BI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3657600"/>
            <a:ext cx="2423160" cy="96012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3904487"/>
            <a:ext cx="22402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</a:rPr>
              <a:t>Streamlit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103327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1">
                <a:solidFill>
                  <a:srgbClr val="009696"/>
                </a:solidFill>
              </a:rPr>
              <a:t>One reproducible workflow connects analysis, prediction, governance, reporting and serving.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Data Quality &amp;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6459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Reliable modeling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2F75B5"/>
                </a:solidFill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Train had no missing values in original columns.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Store missing: CompetitionDistance 3; competitor open month/year 354 each; Promo2 timing/interval 544 each.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Promo2=0 structurally explains the 544 Promo2 missing values.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No duplicates in train or store.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Open=0 → Sales=0 for 172,817 closed-store rows; 54 open-store rows had Sales=0 and were retained.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Missing values are handled inside the sklearn preprocessing pipeline.</a:t>
            </a:r>
          </a:p>
        </p:txBody>
      </p:sp>
      <p:pic>
        <p:nvPicPr>
          <p:cNvPr id="8" name="Picture 7" descr="Python_Logging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343400"/>
            <a:ext cx="3108960" cy="1330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EDA — Sales &amp; Seasonality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6459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Business behavior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2F75B5"/>
                </a:solidFill>
              </a:rPr>
              <a:t>07</a:t>
            </a:r>
          </a:p>
        </p:txBody>
      </p:sp>
      <p:pic>
        <p:nvPicPr>
          <p:cNvPr id="7" name="Picture 6" descr="eda_4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5394960" cy="3346241"/>
          </a:xfrm>
          <a:prstGeom prst="rect">
            <a:avLst/>
          </a:prstGeom>
        </p:spPr>
      </p:pic>
      <p:pic>
        <p:nvPicPr>
          <p:cNvPr id="8" name="Picture 7" descr="eda_48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51560"/>
            <a:ext cx="5394960" cy="22214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5623560"/>
            <a:ext cx="101498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1">
                <a:solidFill>
                  <a:srgbClr val="009696"/>
                </a:solidFill>
              </a:rPr>
              <a:t>Annual and monthly patterns confirm strong seasonality and changing demand levels over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EDA — Promotion &amp; Holidays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6459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Demand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2F75B5"/>
                </a:solidFill>
              </a:rPr>
              <a:t>08</a:t>
            </a:r>
          </a:p>
        </p:txBody>
      </p:sp>
      <p:pic>
        <p:nvPicPr>
          <p:cNvPr id="7" name="Picture 6" descr="eda_50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5303520" cy="3766268"/>
          </a:xfrm>
          <a:prstGeom prst="rect">
            <a:avLst/>
          </a:prstGeom>
        </p:spPr>
      </p:pic>
      <p:pic>
        <p:nvPicPr>
          <p:cNvPr id="8" name="Picture 7" descr="eda_52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303520" cy="32895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486400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009696"/>
                </a:solidFill>
              </a:rPr>
              <a:t>Promo: Avg Sales 4,406 → 7,991; Avg Customers 518 → 820. State-holiday days show sharply lower demand.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EDA — Stores, Assortment &amp;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6459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Store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2F75B5"/>
                </a:solidFill>
              </a:rPr>
              <a:t>09</a:t>
            </a:r>
          </a:p>
        </p:txBody>
      </p:sp>
      <p:pic>
        <p:nvPicPr>
          <p:cNvPr id="7" name="Picture 6" descr="eda_49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5303520" cy="3289525"/>
          </a:xfrm>
          <a:prstGeom prst="rect">
            <a:avLst/>
          </a:prstGeom>
        </p:spPr>
      </p:pic>
      <p:pic>
        <p:nvPicPr>
          <p:cNvPr id="8" name="Picture 7" descr="eda_54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303520" cy="32895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486400"/>
            <a:ext cx="10789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009696"/>
                </a:solidFill>
              </a:rPr>
              <a:t>Assortment b leads average Sales; CompetitionDistance has weak overall correlation (-0.0192).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EDA — Key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6459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What the data says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2F75B5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5440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• Sales–Customers correlation is 0.8947, indicating a strong positive relationship.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• Promotion increases average Sales from 4,406.05 to 7,991.15 and average Customers from 517.82 to 820.10.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• Promotion share is 38.15% in train and 39.58% in test; the difference is about 1.43 percentage points.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• State holidays have much lower average Sales/Customers than non-holiday days; the holiday-period average rises again after the holiday.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• Christmas behavior is highly seasonal: Dec 25 is near-zero relative to normal trading days, while Dec 23 and Dec 30 are much stronger.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• Sunday is a major operational trough: average Sales about 204 versus weekday average about 6,866.81.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• Only 10 stores were open all seven days; weekend performance therefore depends strongly on store operating patterns.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97280"/>
            <a:ext cx="5349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• Assortment b has the highest average Sales, followed by c and a.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• Sales vs CompetitionDistance correlation is -0.0192, so distance alone does not explain Sales well.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• 351 stores have CompetitionDistance available but missing competitor opening month/year; 3 stores have missing CompetitionDistance and missing opening dates.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• SchoolHoliday shows a substantial train/test distribution shift (17.86% vs 44.35%), which is an important deployment caveat.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Feature Engineering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6459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20 Sales-model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2F75B5"/>
                </a:solidFill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Calendar: Year, Month, Day, WeekOfYear, IsWeekend, YearMonth.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Categorical: StateHoliday, StoreType, Assortment, PromoInterval.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Numeric: Store, DayOfWeek, Open, Promo, SchoolHoliday, competition fields and Promo2 fields.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Median imputation for numeric values.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Most-frequent imputation + OneHotEncoder for categorical values.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Customers excluded from Sales model to avoid future-information leakage.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Random Forest — Sales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6459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Chronological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2F75B5"/>
                </a:solidFill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2377440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371600"/>
            <a:ext cx="21031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2F75B5"/>
                </a:solidFill>
              </a:rPr>
              <a:t>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27632"/>
            <a:ext cx="21031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809.24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234440"/>
            <a:ext cx="2377440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1371600"/>
            <a:ext cx="21031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2F75B5"/>
                </a:solidFill>
              </a:rPr>
              <a:t>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1627632"/>
            <a:ext cx="21031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1,218.28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234440"/>
            <a:ext cx="2377440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371600"/>
            <a:ext cx="21031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2F75B5"/>
                </a:solidFill>
              </a:rPr>
              <a:t>R²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627632"/>
            <a:ext cx="21031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0.8859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353312"/>
            <a:ext cx="23774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2F75B5"/>
                </a:solidFill>
              </a:rPr>
              <a:t>Chronological 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737360"/>
            <a:ext cx="27432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0">
                <a:solidFill>
                  <a:srgbClr val="2D2D2D"/>
                </a:solidFill>
              </a:rPr>
              <a:t>Train: Jan 2013 – Jun 2015
Validation: Jul 2015
RF: 100 trees • depth 20 • min leaf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700" b="1">
                <a:solidFill>
                  <a:srgbClr val="1F4E79"/>
                </a:solidFill>
              </a:rPr>
              <a:t>Training objective: regression loss; evaluation emphasizes MAE, RMSE and R² for business interpretability.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Sales Model — Results &amp; Feature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6459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MAE / RMSE / R²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2F75B5"/>
                </a:solidFill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Open: 0.508711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CompetitionDistance: 0.092245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Promo: 0.080344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Store: 0.070218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CompetitionOpenSinceYear: 0.041116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CompetitionOpenSinceMonth: 0.033846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234440"/>
            <a:ext cx="47548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900" b="1">
                <a:solidFill>
                  <a:srgbClr val="1F4E79"/>
                </a:solidFill>
              </a:rPr>
              <a:t>Why Open dominates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74519"/>
            <a:ext cx="448056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700" b="0">
                <a:solidFill>
                  <a:srgbClr val="2D2D2D"/>
                </a:solidFill>
              </a:rPr>
              <a:t>Closed stores naturally produce zero Sales, so operating status is highly informative to the model. Feature importance is model reliance, not causality.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977639"/>
            <a:ext cx="448056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009696"/>
                </a:solidFill>
              </a:rPr>
              <a:t>Approximate interval: mean ± 1.96 × tree prediction standard deviation; lower bound clipped at zero.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Customer Demand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6459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Second business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2F75B5"/>
                </a:solidFill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2377440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54480"/>
            <a:ext cx="21031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2F75B5"/>
                </a:solidFill>
              </a:rPr>
              <a:t>Customer 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10512"/>
            <a:ext cx="21031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60.23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417320"/>
            <a:ext cx="2377440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1554480"/>
            <a:ext cx="21031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2F75B5"/>
                </a:solidFill>
              </a:rPr>
              <a:t>Customer 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810512"/>
            <a:ext cx="21031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91.12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17320"/>
            <a:ext cx="2377440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54480"/>
            <a:ext cx="21031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2F75B5"/>
                </a:solidFill>
              </a:rPr>
              <a:t>Customer R²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810512"/>
            <a:ext cx="21031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0.9562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0040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• Separate Random Forest predicts customer numbers.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• Uses the same chronological validation design.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• Provides a business companion to Sales forecasting.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• Both outputs are exposed by the Streamlit interface.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LSTM — Time Series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6459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ADF, ACF/PACF, 28-day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2F75B5"/>
                </a:solidFill>
              </a:rPr>
              <a:t>15</a:t>
            </a:r>
          </a:p>
        </p:txBody>
      </p:sp>
      <p:pic>
        <p:nvPicPr>
          <p:cNvPr id="7" name="Picture 6" descr="lstm_1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3657600" cy="1461796"/>
          </a:xfrm>
          <a:prstGeom prst="rect">
            <a:avLst/>
          </a:prstGeom>
        </p:spPr>
      </p:pic>
      <p:pic>
        <p:nvPicPr>
          <p:cNvPr id="8" name="Picture 7" descr="lstm_1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051560"/>
            <a:ext cx="3657600" cy="14617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0" y="1554480"/>
            <a:ext cx="329184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</a:rPr>
              <a:t>ADF p ≈ 6.4×10⁻⁵ → stationary path; differencing not required.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743200"/>
            <a:ext cx="329184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009696"/>
                </a:solidFill>
              </a:rPr>
              <a:t>Weekly spikes in ACF/PACF motivated a 28-day sliding window.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160520"/>
            <a:ext cx="329184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0">
                <a:solidFill>
                  <a:srgbClr val="2D2D2D"/>
                </a:solidFill>
              </a:rPr>
              <a:t>Scaling: (-1,1), fitted on training data only.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LSTM — Model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6459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Multivariate LSTM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2F75B5"/>
                </a:solidFill>
              </a:rPr>
              <a:t>16</a:t>
            </a:r>
          </a:p>
        </p:txBody>
      </p:sp>
      <p:pic>
        <p:nvPicPr>
          <p:cNvPr id="7" name="Picture 6" descr="lstm_34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05840"/>
            <a:ext cx="5486400" cy="217831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1143000"/>
            <a:ext cx="2286000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280160"/>
            <a:ext cx="20116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2F75B5"/>
                </a:solidFill>
              </a:rPr>
              <a:t>MAE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536192"/>
            <a:ext cx="20116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504,875.09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143000"/>
            <a:ext cx="2286000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280160"/>
            <a:ext cx="20116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2F75B5"/>
                </a:solidFill>
              </a:rPr>
              <a:t>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1536192"/>
            <a:ext cx="20116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669,092.44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423160"/>
            <a:ext cx="2286000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560320"/>
            <a:ext cx="20116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2F75B5"/>
                </a:solidFill>
              </a:rPr>
              <a:t>R²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816352"/>
            <a:ext cx="20116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0.9451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514600"/>
            <a:ext cx="2286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2F75B5"/>
                </a:solidFill>
              </a:rPr>
              <a:t>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63240"/>
            <a:ext cx="475488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</a:rPr>
              <a:t>Input (28,3) → LSTM(64) → Dropout(0.2) → Dense(1)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60520"/>
            <a:ext cx="4937760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0">
                <a:solidFill>
                  <a:srgbClr val="2D2D2D"/>
                </a:solidFill>
              </a:rPr>
              <a:t>Features: daily Sales + OpenStores + DayOfWeek. Sunday troughs are captured much better than in the univariate model.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MLflow &amp; Model Serialization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6459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Tracking + 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2F75B5"/>
                </a:solidFill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Experiment: Rossmann_Sales_Forecasting.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Tracked parameters, metrics and model artifacts.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MLflow inference reproduced 41,088 test predictions.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Registered model: Rossmann_Sales_Forecasting_RF.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Registry Version 1 + Version 2 retained.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Timestamped serialized models support reproducible serving.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463040"/>
            <a:ext cx="4480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</a:rPr>
              <a:t>Registry accuracy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103120"/>
            <a:ext cx="420624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800" b="1">
                <a:solidFill>
                  <a:srgbClr val="009696"/>
                </a:solidFill>
              </a:rPr>
              <a:t>Version 2 is a second registry release from the validated artifact — NOT a newly trained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4069080"/>
            <a:ext cx="420624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0">
                <a:solidFill>
                  <a:srgbClr val="2D2D2D"/>
                </a:solidFill>
              </a:rPr>
              <a:t>Capture/retain the actual MLflow dashboard screenshot for the final evidence folder.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DVC, GitHub &amp;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6459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Governance +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2F75B5"/>
                </a:solidFill>
              </a:rPr>
              <a:t>18</a:t>
            </a:r>
          </a:p>
        </p:txBody>
      </p:sp>
      <p:pic>
        <p:nvPicPr>
          <p:cNvPr id="7" name="Picture 6" descr="DVC_Multiple_Data_Versions_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3657600" cy="6753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80560" y="123444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</a:rPr>
              <a:t>DVC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783080"/>
            <a:ext cx="219456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0">
                <a:solidFill>
                  <a:srgbClr val="2D2D2D"/>
                </a:solidFill>
              </a:rPr>
              <a:t>V1: 6fe968e
Original Rossmann datasets
V2: 5312ffc
Prepared training dataset
dvc diff confirmed train.csv changed.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234440"/>
            <a:ext cx="2011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</a:rPr>
              <a:t>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25603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2F75B5"/>
                </a:solidFill>
              </a:rPr>
              <a:t>https://github.com/vsatish5621/Rossmann-Sales-Forecasting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234440"/>
            <a:ext cx="2011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</a:rPr>
              <a:t>Power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828800"/>
            <a:ext cx="237744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0">
                <a:solidFill>
                  <a:srgbClr val="2D2D2D"/>
                </a:solidFill>
              </a:rPr>
              <a:t>FactSales
DimStore
DimDate
DAX measures
Year / Month / Store Type slicers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Streamlit Deployment &amp; Live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6459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Production-facing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2F75B5"/>
                </a:solidFill>
              </a:rPr>
              <a:t>19</a:t>
            </a:r>
          </a:p>
        </p:txBody>
      </p:sp>
      <p:pic>
        <p:nvPicPr>
          <p:cNvPr id="7" name="Picture 6" descr="8979bbf2-87aa-4129-9be3-9fab3efb36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5486400" cy="2789490"/>
          </a:xfrm>
          <a:prstGeom prst="rect">
            <a:avLst/>
          </a:prstGeom>
        </p:spPr>
      </p:pic>
      <p:pic>
        <p:nvPicPr>
          <p:cNvPr id="8" name="Picture 7" descr="fc082c93-047a-4050-89ea-1c5a28c86a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60120"/>
            <a:ext cx="5486400" cy="2518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23560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2F75B5"/>
                </a:solidFill>
              </a:rPr>
              <a:t>Live 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559552"/>
            <a:ext cx="94183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009696"/>
                </a:solidFill>
              </a:rPr>
              <a:t>https://rossmann-sales-forecasting-3ajs4nefpwuhytnxunnisq.streamlit.app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Final Results, Limitations &amp; Submission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6459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Ready for final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1">
                <a:solidFill>
                  <a:srgbClr val="2F75B5"/>
                </a:solidFill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2377440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39"/>
            <a:ext cx="21031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2F75B5"/>
                </a:solidFill>
              </a:rPr>
              <a:t>Sales RF R²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90472"/>
            <a:ext cx="21031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0.8859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097280"/>
            <a:ext cx="2377440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234439"/>
            <a:ext cx="21031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2F75B5"/>
                </a:solidFill>
              </a:rPr>
              <a:t>Customer RF R²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490472"/>
            <a:ext cx="21031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0.9562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097280"/>
            <a:ext cx="2377440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234439"/>
            <a:ext cx="21031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2F75B5"/>
                </a:solidFill>
              </a:rPr>
              <a:t>LSTM R²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490472"/>
            <a:ext cx="21031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0.9451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097280"/>
            <a:ext cx="2377440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234439"/>
            <a:ext cx="21031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2F75B5"/>
                </a:solidFill>
              </a:rPr>
              <a:t>Test predictions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490472"/>
            <a:ext cx="21031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41,088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74320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Core technical work is complete: five notebooks, RF, Customer RF, LSTM, MLflow, DVC, Power BI, GitHub and live Streamlit deployment.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Final evidence retained: MLflow registry, Power BI dashboard and EDA question-by-question analysis.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Official frontend examples verified: CSV upload, dedicated Sales/Customers plots and CSV download.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Export final PDF + PPT, inspect, package and submit by 15-Sep-2026.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5486400"/>
            <a:ext cx="56692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t>READY FOR FINAL SUBMISSION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241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83056"/>
                </a:solidFill>
                <a:latin typeface="Aptos"/>
              </a:rPr>
              <a:t>Implementation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058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5B697A"/>
                </a:solidFill>
                <a:latin typeface="Aptos"/>
              </a:rPr>
              <a:t>Selected evidence from the completed project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300" b="1">
                <a:solidFill>
                  <a:srgbClr val="2A5B96"/>
                </a:solidFill>
                <a:latin typeface="Aptos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94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owerBI_Final_Dashboard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555" y="1417320"/>
            <a:ext cx="2846570" cy="1600200"/>
          </a:xfrm>
          <a:prstGeom prst="rect">
            <a:avLst/>
          </a:prstGeom>
          <a:ln>
            <a:solidFill>
              <a:srgbClr val="D2DA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31520" y="3072384"/>
            <a:ext cx="51206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5B697A"/>
                </a:solidFill>
                <a:latin typeface="Aptos"/>
              </a:rPr>
              <a:t>Power BI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94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Lflow_Multiple_Model_Ver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583" y="1417320"/>
            <a:ext cx="3740193" cy="1600200"/>
          </a:xfrm>
          <a:prstGeom prst="rect">
            <a:avLst/>
          </a:prstGeom>
          <a:ln>
            <a:solidFill>
              <a:srgbClr val="D2DAE3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309360" y="3072384"/>
            <a:ext cx="51206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5B697A"/>
                </a:solidFill>
                <a:latin typeface="Aptos"/>
              </a:rPr>
              <a:t>MLflow model registry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703320"/>
            <a:ext cx="5394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195" y="3794759"/>
            <a:ext cx="3147290" cy="1600200"/>
          </a:xfrm>
          <a:prstGeom prst="rect">
            <a:avLst/>
          </a:prstGeom>
          <a:ln>
            <a:solidFill>
              <a:srgbClr val="D2DAE3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731520" y="5449824"/>
            <a:ext cx="51206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5B697A"/>
                </a:solidFill>
                <a:latin typeface="Aptos"/>
              </a:rPr>
              <a:t>Streamlit prediction interface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703320"/>
            <a:ext cx="5394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6210d7bb-6a55-4687-a8f0-d1a4bcb8e7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2258" y="3794759"/>
            <a:ext cx="3114844" cy="1600200"/>
          </a:xfrm>
          <a:prstGeom prst="rect">
            <a:avLst/>
          </a:prstGeom>
          <a:ln>
            <a:solidFill>
              <a:srgbClr val="D2DAE3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6309360" y="5449824"/>
            <a:ext cx="51206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5B697A"/>
                </a:solidFill>
                <a:latin typeface="Aptos"/>
              </a:rPr>
              <a:t>CSV batch prediction input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241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83056"/>
                </a:solidFill>
                <a:latin typeface="Aptos"/>
              </a:rPr>
              <a:t>Streamlit Application — Business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058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5B697A"/>
                </a:solidFill>
                <a:latin typeface="Aptos"/>
              </a:rPr>
              <a:t>Manager-facing interface for store-level and batch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300" b="1">
                <a:solidFill>
                  <a:srgbClr val="2A5B96"/>
                </a:solidFill>
                <a:latin typeface="Aptos"/>
              </a:rPr>
              <a:t>22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0377"/>
            <a:ext cx="6400800" cy="3254405"/>
          </a:xfrm>
          <a:prstGeom prst="rect">
            <a:avLst/>
          </a:prstGeom>
          <a:ln>
            <a:solidFill>
              <a:srgbClr val="D2DAE3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178040" y="1417320"/>
            <a:ext cx="4434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78040" y="1417320"/>
            <a:ext cx="64008" cy="114300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42631" y="1527048"/>
            <a:ext cx="4160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83056"/>
                </a:solidFill>
                <a:latin typeface="Aptos"/>
              </a:rPr>
              <a:t>Manual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42631" y="1892808"/>
            <a:ext cx="4114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32B37"/>
                </a:solidFill>
                <a:latin typeface="Aptos"/>
              </a:rPr>
              <a:t>Store, date, operating status, promotion, holiday, assortment and competition inputs.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2788920"/>
            <a:ext cx="4434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78040" y="2788920"/>
            <a:ext cx="64008" cy="114300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42631" y="2898648"/>
            <a:ext cx="4160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83056"/>
                </a:solidFill>
                <a:latin typeface="Aptos"/>
              </a:rPr>
              <a:t>Batch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2631" y="3264408"/>
            <a:ext cx="4114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32B37"/>
                </a:solidFill>
                <a:latin typeface="Aptos"/>
              </a:rPr>
              <a:t>CSV template/upload workflow supports multiple prediction rows.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4160520"/>
            <a:ext cx="4434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4160520"/>
            <a:ext cx="64008" cy="114300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2631" y="4270248"/>
            <a:ext cx="4160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83056"/>
                </a:solidFill>
                <a:latin typeface="Aptos"/>
              </a:rP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2631" y="4636008"/>
            <a:ext cx="4114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32B37"/>
                </a:solidFill>
                <a:latin typeface="Aptos"/>
              </a:rPr>
              <a:t>Predicted Sales and Customers, result table and downloadable CSV.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72" y="5559552"/>
            <a:ext cx="8229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A5B96"/>
                </a:solidFill>
                <a:latin typeface="Aptos"/>
              </a:rPr>
              <a:t>Live app: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5522976"/>
            <a:ext cx="35661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183056"/>
                </a:solidFill>
                <a:latin typeface="Aptos"/>
              </a:rPr>
              <a:t>rossmann-sales-forecasting-3ajs4nefpwuhytnxunnisq.streamlit.app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241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83056"/>
                </a:solidFill>
                <a:latin typeface="Aptos"/>
              </a:rPr>
              <a:t>Power BI — Business Intelligence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058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5B697A"/>
                </a:solidFill>
                <a:latin typeface="Aptos"/>
              </a:rPr>
              <a:t>Historical analysis, dimensional modelling and interactive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300" b="1">
                <a:solidFill>
                  <a:srgbClr val="2A5B96"/>
                </a:solidFill>
                <a:latin typeface="Aptos"/>
              </a:rPr>
              <a:t>23</a:t>
            </a:r>
          </a:p>
        </p:txBody>
      </p:sp>
      <p:pic>
        <p:nvPicPr>
          <p:cNvPr id="6" name="Picture 5" descr="PowerBI_Final_Dashboard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31415"/>
            <a:ext cx="6995160" cy="3932329"/>
          </a:xfrm>
          <a:prstGeom prst="rect">
            <a:avLst/>
          </a:prstGeom>
          <a:ln>
            <a:solidFill>
              <a:srgbClr val="D2DAE3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818120" y="1417320"/>
            <a:ext cx="3749039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18120" y="1417320"/>
            <a:ext cx="64008" cy="100584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82712" y="1527048"/>
            <a:ext cx="3474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83056"/>
                </a:solidFill>
                <a:latin typeface="Aptos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2712" y="1892808"/>
            <a:ext cx="342899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32B37"/>
                </a:solidFill>
                <a:latin typeface="Aptos"/>
              </a:rPr>
              <a:t>FactSales + DimStore + DimDate with active one-to-many relationships.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651760"/>
            <a:ext cx="3749039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8120" y="2651760"/>
            <a:ext cx="64008" cy="100584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2712" y="2761488"/>
            <a:ext cx="3474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83056"/>
                </a:solidFill>
                <a:latin typeface="Aptos"/>
              </a:rPr>
              <a:t>Measures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712" y="3127248"/>
            <a:ext cx="342899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32B37"/>
                </a:solidFill>
                <a:latin typeface="Aptos"/>
              </a:rPr>
              <a:t>Total Sales • Total Customers • Avg Sales per Customer • Total Stores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3886200"/>
            <a:ext cx="3749039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3886200"/>
            <a:ext cx="64008" cy="100584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82712" y="3995928"/>
            <a:ext cx="3474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83056"/>
                </a:solidFill>
                <a:latin typeface="Aptos"/>
              </a:rPr>
              <a:t>Filters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2" y="4361688"/>
            <a:ext cx="342899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32B37"/>
                </a:solidFill>
                <a:latin typeface="Aptos"/>
              </a:rPr>
              <a:t>Year • Month Name • Store Type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5120640"/>
            <a:ext cx="3749039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18120" y="5120640"/>
            <a:ext cx="64008" cy="685800"/>
          </a:xfrm>
          <a:prstGeom prst="rect">
            <a:avLst/>
          </a:prstGeom>
          <a:solidFill>
            <a:srgbClr val="2B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82712" y="5230368"/>
            <a:ext cx="3474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83056"/>
                </a:solidFill>
                <a:latin typeface="Aptos"/>
              </a:rPr>
              <a:t>Business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2712" y="5596127"/>
            <a:ext cx="3428999" cy="914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32B37"/>
                </a:solidFill>
                <a:latin typeface="Aptos"/>
              </a:rPr>
              <a:t>Trend, promotion, holiday, store and competition analysis.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241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83056"/>
                </a:solidFill>
                <a:latin typeface="Aptos"/>
              </a:rPr>
              <a:t>MLOps — MLflow, Versioning &amp;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058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5B697A"/>
                </a:solidFill>
                <a:latin typeface="Aptos"/>
              </a:rPr>
              <a:t>Model tracking, registry releases and dataset lineage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300" b="1">
                <a:solidFill>
                  <a:srgbClr val="2A5B96"/>
                </a:solidFill>
                <a:latin typeface="Aptos"/>
              </a:rPr>
              <a:t>24</a:t>
            </a:r>
          </a:p>
        </p:txBody>
      </p:sp>
      <p:pic>
        <p:nvPicPr>
          <p:cNvPr id="6" name="Picture 5" descr="MLflow_Multiple_Model_Ver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3263"/>
            <a:ext cx="6537959" cy="2797193"/>
          </a:xfrm>
          <a:prstGeom prst="rect">
            <a:avLst/>
          </a:prstGeom>
          <a:ln>
            <a:solidFill>
              <a:srgbClr val="D2DAE3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269480" y="1371600"/>
            <a:ext cx="4343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69480" y="1371600"/>
            <a:ext cx="64008" cy="96012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481328"/>
            <a:ext cx="4069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83056"/>
                </a:solidFill>
                <a:latin typeface="Aptos"/>
              </a:rPr>
              <a:t>MLflow Registry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34072" y="1847088"/>
            <a:ext cx="4023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32B37"/>
                </a:solidFill>
                <a:latin typeface="Aptos"/>
              </a:rPr>
              <a:t>Rossmann_Sales_Forecasting_RF with Version 1 and Version 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2560320"/>
            <a:ext cx="4343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69480" y="2560320"/>
            <a:ext cx="64008" cy="96012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34072" y="2670048"/>
            <a:ext cx="4069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83056"/>
                </a:solidFill>
                <a:latin typeface="Aptos"/>
              </a:rPr>
              <a:t>Important 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4072" y="3035808"/>
            <a:ext cx="4023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32B37"/>
                </a:solidFill>
                <a:latin typeface="Aptos"/>
              </a:rPr>
              <a:t>Version 2 is a second registry release of the validated artifact, not a retrained/improved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3749039"/>
            <a:ext cx="4343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69480" y="3749039"/>
            <a:ext cx="64008" cy="96012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4072" y="3858768"/>
            <a:ext cx="4069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83056"/>
                </a:solidFill>
                <a:latin typeface="Aptos"/>
              </a:rPr>
              <a:t>DVC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4072" y="4224527"/>
            <a:ext cx="4023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32B37"/>
                </a:solidFill>
                <a:latin typeface="Aptos"/>
              </a:rPr>
              <a:t>V1 commit 6fe968e; V2 commit 5312ffc; dvc diff confirmed train.csv changed.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4937760"/>
            <a:ext cx="4343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80" y="4937760"/>
            <a:ext cx="64008" cy="777240"/>
          </a:xfrm>
          <a:prstGeom prst="rect">
            <a:avLst/>
          </a:prstGeom>
          <a:solidFill>
            <a:srgbClr val="2B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34072" y="5047488"/>
            <a:ext cx="4069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83056"/>
                </a:solidFill>
                <a:latin typeface="Aptos"/>
              </a:rPr>
              <a:t>GitHub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4072" y="5413248"/>
            <a:ext cx="4023360" cy="1828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32B37"/>
                </a:solidFill>
                <a:latin typeface="Aptos"/>
              </a:rPr>
              <a:t>Public repository with five organized notebooks, app and supporting project files.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241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83056"/>
                </a:solidFill>
                <a:latin typeface="Aptos"/>
              </a:rPr>
              <a:t>Final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058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5B697A"/>
                </a:solidFill>
                <a:latin typeface="Aptos"/>
              </a:rPr>
              <a:t>Outcome, business value and access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10896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300" b="1">
                <a:solidFill>
                  <a:srgbClr val="2A5B96"/>
                </a:solidFill>
                <a:latin typeface="Aptos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2514600" cy="1143000"/>
          </a:xfrm>
          <a:prstGeom prst="roundRect">
            <a:avLst/>
          </a:prstGeom>
          <a:solidFill>
            <a:srgbClr val="EFF4F9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2240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5B697A"/>
                </a:solidFill>
                <a:latin typeface="Aptos"/>
              </a:rPr>
              <a:t>Sales RF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46504"/>
            <a:ext cx="22402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83056"/>
                </a:solidFill>
                <a:latin typeface="Aptos"/>
              </a:rPr>
              <a:t>R² 0.8859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12264"/>
            <a:ext cx="22402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0">
                <a:solidFill>
                  <a:srgbClr val="2A5B96"/>
                </a:solidFill>
                <a:latin typeface="Aptos"/>
              </a:rPr>
              <a:t>MAE 809.24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79" y="1325880"/>
            <a:ext cx="2514600" cy="1143000"/>
          </a:xfrm>
          <a:prstGeom prst="roundRect">
            <a:avLst/>
          </a:prstGeom>
          <a:solidFill>
            <a:srgbClr val="EFF4F9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1481328"/>
            <a:ext cx="2240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5B697A"/>
                </a:solidFill>
                <a:latin typeface="Aptos"/>
              </a:rPr>
              <a:t>Customer RF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1746504"/>
            <a:ext cx="22402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83056"/>
                </a:solidFill>
                <a:latin typeface="Aptos"/>
              </a:rPr>
              <a:t>R² 0.9562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39" y="2112264"/>
            <a:ext cx="22402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0">
                <a:solidFill>
                  <a:srgbClr val="2A5B96"/>
                </a:solidFill>
                <a:latin typeface="Aptos"/>
              </a:rPr>
              <a:t>MAE 60.23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25880"/>
            <a:ext cx="2514600" cy="1143000"/>
          </a:xfrm>
          <a:prstGeom prst="roundRect">
            <a:avLst/>
          </a:prstGeom>
          <a:solidFill>
            <a:srgbClr val="EFF4F9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481328"/>
            <a:ext cx="2240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5B697A"/>
                </a:solidFill>
                <a:latin typeface="Aptos"/>
              </a:rPr>
              <a:t>Multivariate LSTM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746504"/>
            <a:ext cx="22402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83056"/>
                </a:solidFill>
                <a:latin typeface="Aptos"/>
              </a:rPr>
              <a:t>R² 0.9451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12264"/>
            <a:ext cx="22402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0">
                <a:solidFill>
                  <a:srgbClr val="2A5B96"/>
                </a:solidFill>
                <a:latin typeface="Aptos"/>
              </a:rPr>
              <a:t>28-day sequence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19" y="1325880"/>
            <a:ext cx="2514600" cy="1143000"/>
          </a:xfrm>
          <a:prstGeom prst="roundRect">
            <a:avLst/>
          </a:prstGeom>
          <a:solidFill>
            <a:srgbClr val="EFF4F9"/>
          </a:solidFill>
          <a:ln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481328"/>
            <a:ext cx="2240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5B697A"/>
                </a:solidFill>
                <a:latin typeface="Aptos"/>
              </a:rPr>
              <a:t>Test Forecasts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746504"/>
            <a:ext cx="22402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83056"/>
                </a:solidFill>
                <a:latin typeface="Aptos"/>
              </a:rPr>
              <a:t>41,088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112264"/>
            <a:ext cx="22402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0">
                <a:solidFill>
                  <a:srgbClr val="2A5B96"/>
                </a:solidFill>
                <a:latin typeface="Aptos"/>
              </a:rPr>
              <a:t>Sales + Customers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78892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2788920"/>
            <a:ext cx="64008" cy="196596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2898648"/>
            <a:ext cx="5074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83056"/>
                </a:solidFill>
                <a:latin typeface="Aptos"/>
              </a:rPr>
              <a:t>What was delivered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3264408"/>
            <a:ext cx="50292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32B37"/>
                </a:solidFill>
                <a:latin typeface="Aptos"/>
              </a:rPr>
              <a:t>• End-to-end forecasting workflow
• EDA-driven feature engineering
• Random Forest sales and customer models
• Multivariate LSTM time-series model
• MLflow tracking and registry
• DVC dataset versioning
• Power BI dashboard
• Deployed Streamlit application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278892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2788920"/>
            <a:ext cx="64008" cy="1965960"/>
          </a:xfrm>
          <a:prstGeom prst="rect">
            <a:avLst/>
          </a:prstGeom>
          <a:solidFill>
            <a:srgbClr val="2A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2898648"/>
            <a:ext cx="5074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83056"/>
                </a:solidFill>
                <a:latin typeface="Aptos"/>
              </a:rPr>
              <a:t>Business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3264408"/>
            <a:ext cx="50292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232B37"/>
                </a:solidFill>
                <a:latin typeface="Aptos"/>
              </a:rPr>
              <a:t>• Six-week forecasting objective supported
• Promotion, holiday, competition and store context incorporated
• Store-level predictions can support planning
• Customer demand provides an additional operational signal
• Interactive BI and web outputs improve accessibility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685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A5B96"/>
                </a:solidFill>
                <a:latin typeface="Aptos"/>
              </a:rPr>
              <a:t>GitHub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138928"/>
            <a:ext cx="4754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183056"/>
                </a:solidFill>
                <a:latin typeface="Aptos"/>
              </a:rPr>
              <a:t>github.com/vsatish5621/Rossmann-Sales-Forecasting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166360"/>
            <a:ext cx="1143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A5B96"/>
                </a:solidFill>
                <a:latin typeface="Aptos"/>
              </a:rPr>
              <a:t>Live Application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5138928"/>
            <a:ext cx="41605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183056"/>
                </a:solidFill>
                <a:latin typeface="Aptos"/>
              </a:rPr>
              <a:t>rossmann-sales-forecasting-3ajs4nefpwuhytnxunnisq.streamlit.app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806440"/>
            <a:ext cx="10881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183056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